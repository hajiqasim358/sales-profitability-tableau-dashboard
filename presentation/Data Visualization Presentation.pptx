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Annual Sales by Customer Segment ($)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Consumer</c:v>
                </c:pt>
              </c:strCache>
            </c:strRef>
          </c:tx>
          <c:spPr>
            <a:ln w="38100" cap="flat" cmpd="sng" algn="ctr">
              <a:solidFill>
                <a:srgbClr val="4F8E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EF7"/>
              </a:solidFill>
              <a:ln w="9525" cap="flat" cmpd="sng" algn="ctr">
                <a:solidFill>
                  <a:srgbClr val="4F8EF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284000</c:v>
                </c:pt>
                <c:pt idx="1">
                  <c:v>341000</c:v>
                </c:pt>
                <c:pt idx="2">
                  <c:v>418000</c:v>
                </c:pt>
                <c:pt idx="3">
                  <c:v>507000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Corporate</c:v>
                </c:pt>
              </c:strCache>
            </c:strRef>
          </c:tx>
          <c:spPr>
            <a:ln w="38100" cap="flat" cmpd="sng" algn="ctr">
              <a:solidFill>
                <a:srgbClr val="26C4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6C485"/>
              </a:solidFill>
              <a:ln w="9525" cap="flat" cmpd="sng" algn="ctr">
                <a:solidFill>
                  <a:srgbClr val="26C48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185000</c:v>
                </c:pt>
                <c:pt idx="1">
                  <c:v>218000</c:v>
                </c:pt>
                <c:pt idx="2">
                  <c:v>266000</c:v>
                </c:pt>
                <c:pt idx="3">
                  <c:v>322000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Home Office</c:v>
                </c:pt>
              </c:strCache>
            </c:strRef>
          </c:tx>
          <c:spPr>
            <a:ln w="38100" cap="flat" cmpd="sng" algn="ctr">
              <a:solidFill>
                <a:srgbClr val="E880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03A"/>
              </a:solidFill>
              <a:ln w="9525" cap="flat" cmpd="sng" algn="ctr">
                <a:solidFill>
                  <a:srgbClr val="E8803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98000</c:v>
                </c:pt>
                <c:pt idx="1">
                  <c:v>121000</c:v>
                </c:pt>
                <c:pt idx="2">
                  <c:v>147000</c:v>
                </c:pt>
                <c:pt idx="3">
                  <c:v>178000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cdec8f5-7d7b-412d-8ba4-c883c87f65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Total Profit by Product Category ($)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26C48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6C4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5252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145000</c:v>
                </c:pt>
                <c:pt idx="1">
                  <c:v>122000</c:v>
                </c:pt>
                <c:pt idx="2">
                  <c:v>-18000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a5a4758-196e-456e-ad6d-c2bab83f268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Discount Rate vs. Profit Ratio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Ratio</c:v>
                </c:pt>
              </c:strCache>
            </c:strRef>
          </c:tx>
          <c:spPr>
            <a:ln w="25400" cap="flat" cmpd="sng" algn="ctr">
              <a:solidFill>
                <a:srgbClr val="4F8E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EF7"/>
              </a:solidFill>
              <a:ln w="9525" cap="flat" cmpd="sng" algn="ctr">
                <a:solidFill>
                  <a:srgbClr val="4F8EF7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numRef>
              <c:f>Sheet1!$A$2:$A$15</c:f>
              <c:numCache>
                <c:formatCode>General</c:formatCode>
                <c:ptCount val="14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0.6</c:v>
                </c:pt>
                <c:pt idx="12">
                  <c:v>0.7</c:v>
                </c:pt>
                <c:pt idx="13">
                  <c:v>0.8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0.38</c:v>
                </c:pt>
                <c:pt idx="1">
                  <c:v>0.32</c:v>
                </c:pt>
                <c:pt idx="2">
                  <c:v>0.28</c:v>
                </c:pt>
                <c:pt idx="3">
                  <c:v>0.22</c:v>
                </c:pt>
                <c:pt idx="4">
                  <c:v>0.14</c:v>
                </c:pt>
                <c:pt idx="5">
                  <c:v>0.08</c:v>
                </c:pt>
                <c:pt idx="6">
                  <c:v>0.02</c:v>
                </c:pt>
                <c:pt idx="7">
                  <c:v>-0.06</c:v>
                </c:pt>
                <c:pt idx="8">
                  <c:v>-0.12</c:v>
                </c:pt>
                <c:pt idx="9">
                  <c:v>-0.18</c:v>
                </c:pt>
                <c:pt idx="10">
                  <c:v>-0.24</c:v>
                </c:pt>
                <c:pt idx="11">
                  <c:v>-0.32</c:v>
                </c:pt>
                <c:pt idx="12">
                  <c:v>-0.38</c:v>
                </c:pt>
                <c:pt idx="13">
                  <c:v>-0.44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ln w="25400" cap="flat" cmpd="sng" algn="ctr">
              <a:solidFill>
                <a:srgbClr val="4F8E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EF7"/>
              </a:solidFill>
              <a:ln w="9525" cap="flat" cmpd="sng" algn="ctr">
                <a:solidFill>
                  <a:srgbClr val="4F8EF7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numRef>
              <c:f>Sheet1!$A$2:$A$15</c:f>
              <c:numCache>
                <c:formatCode>General</c:formatCode>
                <c:ptCount val="14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0.6</c:v>
                </c:pt>
                <c:pt idx="12">
                  <c:v>0.7</c:v>
                </c:pt>
                <c:pt idx="13">
                  <c:v>0.8</c:v>
                </c:pt>
              </c:numCache>
            </c:numRef>
          </c:xVal>
          <c:yVal>
            <c:numRef>
              <c:f>Sheet1!$C$2:$C$15</c:f>
              <c:numCache>
                <c:formatCode>General</c:formatCode>
                <c:ptCount val="14"/>
                <c:pt idx="0">
                  <c:v>0.357632369942196</c:v>
                </c:pt>
                <c:pt idx="1">
                  <c:v>0.302922543352601</c:v>
                </c:pt>
                <c:pt idx="2">
                  <c:v>0.248212716763006</c:v>
                </c:pt>
                <c:pt idx="3">
                  <c:v>0.19350289017341</c:v>
                </c:pt>
                <c:pt idx="4">
                  <c:v>0.138793063583815</c:v>
                </c:pt>
                <c:pt idx="5">
                  <c:v>0.0840832369942195</c:v>
                </c:pt>
                <c:pt idx="6">
                  <c:v>0.0293734104046242</c:v>
                </c:pt>
                <c:pt idx="7">
                  <c:v>-0.0253364161849711</c:v>
                </c:pt>
                <c:pt idx="8">
                  <c:v>-0.0800462427745666</c:v>
                </c:pt>
                <c:pt idx="9">
                  <c:v>-0.134756069364162</c:v>
                </c:pt>
                <c:pt idx="10">
                  <c:v>-0.189465895953757</c:v>
                </c:pt>
                <c:pt idx="11">
                  <c:v>-0.298885549132948</c:v>
                </c:pt>
                <c:pt idx="12">
                  <c:v>-0.408305202312139</c:v>
                </c:pt>
                <c:pt idx="13">
                  <c:v>-0.517724855491329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59a0d76c-a76e-4df0-abd8-d56ec762e56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1455" y="494030"/>
            <a:ext cx="2776855" cy="2322195"/>
          </a:xfrm>
          <a:prstGeom prst="rect">
            <a:avLst/>
          </a:prstGeom>
          <a:solidFill>
            <a:srgbClr val="6BA8FF">
              <a:alpha val="45000"/>
            </a:srgbClr>
          </a:solidFill>
          <a:ln w="12700">
            <a:solidFill>
              <a:srgbClr val="6BA8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32461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Retail Analytics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" y="349300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Tableau &amp; Python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74720" y="64008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Analyzing Sales Performance</a:t>
            </a:r>
            <a:endParaRPr lang="en-US" sz="2800" b="1" dirty="0">
              <a:solidFill>
                <a:srgbClr val="4F8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74720" y="1261872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Profitability Across Regions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474720" y="1883664"/>
            <a:ext cx="5394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Interactive Tableau Dashboards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74720" y="2395728"/>
            <a:ext cx="5394960" cy="27432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2542032"/>
            <a:ext cx="1261872" cy="274320"/>
          </a:xfrm>
          <a:prstGeom prst="rect">
            <a:avLst/>
          </a:prstGeom>
          <a:solidFill>
            <a:srgbClr val="26C485"/>
          </a:solidFill>
          <a:ln w="12700">
            <a:solidFill>
              <a:srgbClr val="26C4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25420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846320" y="2542032"/>
            <a:ext cx="1261872" cy="274320"/>
          </a:xfrm>
          <a:prstGeom prst="rect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5420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Jupyter Notebook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17920" y="2542032"/>
            <a:ext cx="1261872" cy="274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5420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Tableau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589520" y="2542032"/>
            <a:ext cx="1261872" cy="2743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25420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Superstore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11455" y="39319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Arif Hussain, Haji Qasim, </a:t>
            </a:r>
            <a:endParaRPr lang="en-US" sz="1200" b="1" dirty="0">
              <a:solidFill>
                <a:srgbClr val="1A2B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457200" lvl="1" indent="457200" algn="l">
              <a:buNone/>
            </a:pPr>
            <a:r>
              <a:rPr lang="en-US" sz="1200" dirty="0"/>
              <a:t>&amp; Rahmat Ullah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456305" y="2994533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Global Superstore  ·  Tools: Python &amp; Tableau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474720" y="3794760"/>
            <a:ext cx="1261872" cy="914400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474720" y="3840480"/>
            <a:ext cx="126187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Yrs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3474720" y="4261104"/>
            <a:ext cx="12618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Span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846320" y="3794760"/>
            <a:ext cx="1261872" cy="914400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846320" y="3840480"/>
            <a:ext cx="126187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Reg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846320" y="4261104"/>
            <a:ext cx="12618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217920" y="3794760"/>
            <a:ext cx="1261872" cy="914400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217920" y="3840480"/>
            <a:ext cx="126187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51K+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217920" y="4261104"/>
            <a:ext cx="12618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589520" y="3794760"/>
            <a:ext cx="1261872" cy="914400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589520" y="3840480"/>
            <a:ext cx="126187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Cat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589520" y="4261104"/>
            <a:ext cx="12618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Categories</a:t>
            </a:r>
            <a:endParaRPr lang="en-US" sz="9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970" y="805815"/>
            <a:ext cx="1736090" cy="1736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interactive analytics matter for retail decision-making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2651760" cy="3270885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7043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184708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 Data Complexity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2286000"/>
            <a:ext cx="2432304" cy="21031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 datasets contain millions of transactions across regions, products, and time periods</a:t>
            </a:r>
            <a:endParaRPr lang="en-US" sz="1050" dirty="0">
              <a:solidFill>
                <a:srgbClr val="4A556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manual analysis error-prone and slow.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998220"/>
            <a:ext cx="2651760" cy="3278505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7043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5848" y="184708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Reports Fall Short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55848" y="2286000"/>
            <a:ext cx="2432304" cy="21031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Excel or PDF reports cannot adapt to changing business questions. Slicing by region or period requires rebuilding reports from scratch.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1005840"/>
            <a:ext cx="2651760" cy="3276600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70432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0488" y="184708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Interactivity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90488" y="2286000"/>
            <a:ext cx="2432304" cy="21031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Stakeholders need live exploration — clicking on a region should instantly filter KPIs, trends, and category breakdowns without manual queries.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11480" y="4396740"/>
            <a:ext cx="8321040" cy="59563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11480" y="4425950"/>
            <a:ext cx="8321040" cy="566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Build an interactive Tableau dashboard powered by clean Python-preprocessed Global Superstore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Superstore — a comprehensive multi-dimensional retail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34747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Superstore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29184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widely used sample retail dataset covering 4 years (2012–2015) of global transactions.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simulates a multinational superstore with three product categories sold across multiple regions and customer segments.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Ideal for testing analytics, BI tools, and dashboard design.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749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379476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Sourced from Kaggle — widely used in BI &amp; analytics education.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60520" y="1005840"/>
            <a:ext cx="2176272" cy="1170432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51960" y="1097280"/>
            <a:ext cx="199339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51,290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51960" y="15727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1005840"/>
            <a:ext cx="2176272" cy="1170432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1097280"/>
            <a:ext cx="199339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6C4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Regions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83680" y="15727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US, EU, APAC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60520" y="2331720"/>
            <a:ext cx="2176272" cy="1170432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51960" y="2423160"/>
            <a:ext cx="199339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80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Categories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251960" y="289864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Tech, Furniture, Supplies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92240" y="2331720"/>
            <a:ext cx="2176272" cy="1170432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83680" y="2423160"/>
            <a:ext cx="199339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Sub-Cats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583680" y="289864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Sub-categories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60520" y="3657600"/>
            <a:ext cx="2176272" cy="1170432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251960" y="3749040"/>
            <a:ext cx="199339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6C4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Segments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251960" y="422452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Consumer, Corp, Home Office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492240" y="3657600"/>
            <a:ext cx="2176272" cy="1170432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583680" y="3749040"/>
            <a:ext cx="199339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80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Metrics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583680" y="422452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Sales, Profit, Discount, Ship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 in 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 and feature-engineering the dataset in Jupyter Notebook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1874520" cy="2194560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1155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4708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Dataset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157984"/>
            <a:ext cx="17830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CSV into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DataFrame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31720" y="1691640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60320" y="1005840"/>
            <a:ext cx="1874520" cy="2194560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11556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184708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Nulls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06040" y="2157984"/>
            <a:ext cx="17830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/ fill missing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values, verify dtypes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480560" y="1691640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09160" y="1005840"/>
            <a:ext cx="1874520" cy="2194560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115568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84708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Parsing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54880" y="2157984"/>
            <a:ext cx="17830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Order 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datetime, extract Year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629400" y="1691640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858000" y="1005840"/>
            <a:ext cx="1874520" cy="2194560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115568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184708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903720" y="2157984"/>
            <a:ext cx="17830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Ratio =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/ Sales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11480" y="3401568"/>
            <a:ext cx="8321040" cy="1554480"/>
          </a:xfrm>
          <a:prstGeom prst="rect">
            <a:avLst/>
          </a:prstGeom>
          <a:solidFill>
            <a:srgbClr val="1A2B4A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48640" y="349300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C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Python Preprocessing Snippet (Jupyter Notebook)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48640" y="3767328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BD1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df</a:t>
            </a:r>
            <a:r>
              <a:rPr lang="en-US" sz="9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pd.read_csv(</a:t>
            </a:r>
            <a:r>
              <a:rPr lang="en-US" sz="900" dirty="0">
                <a:solidFill>
                  <a:srgbClr val="98E8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'Global_Superstore.csv'</a:t>
            </a:r>
            <a:r>
              <a:rPr lang="en-US" sz="9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   </a:t>
            </a:r>
            <a:r>
              <a:rPr lang="en-US" sz="900" dirty="0">
                <a:solidFill>
                  <a:srgbClr val="6B8A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Load data
</a:t>
            </a:r>
            <a:r>
              <a:rPr lang="en-US" sz="9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df.dropna(inplace=True)                              </a:t>
            </a:r>
            <a:r>
              <a:rPr lang="en-US" sz="900" dirty="0">
                <a:solidFill>
                  <a:srgbClr val="6B8A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Remove missing values
</a:t>
            </a:r>
            <a:r>
              <a:rPr lang="en-US" sz="9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df['Order Date'] = pd.to_datetime(df['Order Date'])  </a:t>
            </a:r>
            <a:r>
              <a:rPr lang="en-US" sz="900" dirty="0">
                <a:solidFill>
                  <a:srgbClr val="6B8A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Parse dates
</a:t>
            </a:r>
            <a:r>
              <a:rPr lang="en-US" sz="9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df['Year'] = df['Order Date'].dt.year                </a:t>
            </a:r>
            <a:r>
              <a:rPr lang="en-US" sz="900" dirty="0">
                <a:solidFill>
                  <a:srgbClr val="6B8A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Extract year
</a:t>
            </a:r>
            <a:r>
              <a:rPr lang="en-US" sz="9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df['Profit Ratio'] = df['Profit'] / df['Sales']      </a:t>
            </a:r>
            <a:r>
              <a:rPr lang="en-US" sz="900" dirty="0">
                <a:solidFill>
                  <a:srgbClr val="6B8A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Feature engineering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11480" y="4974336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schema exported as CSV → Connected to Tableau as live data source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Design &amp;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Tableau architecture, KPIs, and calculated fields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7899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444752"/>
            <a:ext cx="109728" cy="6400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8132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Cards (Top Row)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73736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 · Profit · Orders · Margin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2267712"/>
            <a:ext cx="109728" cy="640080"/>
          </a:xfrm>
          <a:prstGeom prst="rect">
            <a:avLst/>
          </a:prstGeom>
          <a:solidFill>
            <a:srgbClr val="26C485"/>
          </a:solidFill>
          <a:ln w="12700">
            <a:solidFill>
              <a:srgbClr val="26C4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042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 Charts (Middle)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56032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over Time · Category Breakdown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3090672"/>
            <a:ext cx="109728" cy="640080"/>
          </a:xfrm>
          <a:prstGeom prst="rect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12724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Pie Charts (Right)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338328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Geographic profit distribution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" y="3913632"/>
            <a:ext cx="109728" cy="6400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5020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 Table (Bottom)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420624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Sub-category level drill-down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1005840"/>
            <a:ext cx="4389120" cy="1188720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1261872"/>
            <a:ext cx="50292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102352" y="1115568"/>
            <a:ext cx="3493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Calculated Fields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02352" y="1408176"/>
            <a:ext cx="34930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Margin = SUM(Profit) / SUM(Sales) — a custom metric enabling profitability analysis not available in raw data.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343400" y="2304288"/>
            <a:ext cx="4389120" cy="1188720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560320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02352" y="2414016"/>
            <a:ext cx="3493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Top-Down Layout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102352" y="2706624"/>
            <a:ext cx="34930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 at top for at-a-glance metrics, detailed charts in the middle, and exploratory tables at the bottom.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343400" y="3602736"/>
            <a:ext cx="4389120" cy="1188720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858768"/>
            <a:ext cx="502920" cy="5029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102352" y="3712464"/>
            <a:ext cx="3493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Filters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102352" y="4005072"/>
            <a:ext cx="34930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actions by Region, Segment, and Year using Tableau parameter controls connected to all worksheets.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Interactivity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Cross-filtering, highlight actions, and dynamic KPI updates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920240"/>
            <a:ext cx="2194560" cy="14630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92024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245" y="109728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245" y="1097280"/>
            <a:ext cx="91440" cy="14630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837" y="1243584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Cross-Filter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6837" y="1591056"/>
            <a:ext cx="24871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any chart element to filter all other views simultaneously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245" y="310896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245" y="3108960"/>
            <a:ext cx="91440" cy="1463040"/>
          </a:xfrm>
          <a:prstGeom prst="rect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837" y="3255264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 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6837" y="3602736"/>
            <a:ext cx="24871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Hover on a region or segment to highlight related data points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0295" y="109728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0295" y="1097280"/>
            <a:ext cx="91440" cy="1463040"/>
          </a:xfrm>
          <a:prstGeom prst="rect">
            <a:avLst/>
          </a:prstGeom>
          <a:solidFill>
            <a:srgbClr val="26C485"/>
          </a:solidFill>
          <a:ln w="12700">
            <a:solidFill>
              <a:srgbClr val="26C4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4887" y="1243584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KPIs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4887" y="1591056"/>
            <a:ext cx="24871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cards recalculate in real-time based on active selections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0295" y="310896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0295" y="3108960"/>
            <a:ext cx="91440" cy="14630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4887" y="3255264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4887" y="3602736"/>
            <a:ext cx="24871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Drill from country level to city level with parameter controls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four interaction types work simultaneously — creating a seamless exploratory analytics experience.</a:t>
            </a:r>
            <a:endParaRPr lang="en-US" sz="9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915" y="1900555"/>
            <a:ext cx="3076575" cy="19234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 1: Sales Trends (2012–2015)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growth across all segments — Consumer segment leads throughout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1148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005840"/>
            <a:ext cx="2560320" cy="1170432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2200" y="1051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+78%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172200" y="1490472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Segment Growth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(2012–2015)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2322576"/>
            <a:ext cx="2560320" cy="1170432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2368296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6C4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$507K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72200" y="2807208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Consumer Sales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2015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72200" y="3639312"/>
            <a:ext cx="2560320" cy="1170432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368503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80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3/3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172200" y="4123944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Segments show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upward trend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2200" y="48585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segment consistently dominates — signaling where marketing investment has greatest ROI.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 2: Profitability by Category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 generates high sales but suffers from poor or negative margins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1148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005840"/>
            <a:ext cx="2560320" cy="1371600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97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39712" y="11155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C4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309360" y="1463040"/>
            <a:ext cx="23774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profit margin. Strategic products drive overall revenue performance.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72200" y="2542032"/>
            <a:ext cx="2560320" cy="1371600"/>
          </a:xfrm>
          <a:prstGeom prst="rect">
            <a:avLst/>
          </a:prstGeom>
          <a:solidFill>
            <a:srgbClr val="FDEAEA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3347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39712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  ⚠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309360" y="2999232"/>
            <a:ext cx="23774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profit despite high sales. Discount abuse and high shipping cost are root causes.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172200" y="4078224"/>
            <a:ext cx="2560320" cy="877824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309360" y="413308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309360" y="4370832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sales does not equal high profit. Category-level margin analysis is critical.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 3: Discount vs. Profit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discounts consistently erode profitability across all categories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1148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005840"/>
            <a:ext cx="2560320" cy="1170432"/>
          </a:xfrm>
          <a:prstGeom prst="rect">
            <a:avLst/>
          </a:prstGeom>
          <a:solidFill>
            <a:srgbClr val="FDEAEA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2200" y="1051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–0.82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172200" y="149047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Pearson Correlation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72200" y="169164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negative correlation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72200" y="2290191"/>
            <a:ext cx="2560320" cy="1170432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2335911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80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30%+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172200" y="2774823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Threshold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72200" y="2975991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turn unprofitable above this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72200" y="3562477"/>
            <a:ext cx="2560320" cy="1170432"/>
          </a:xfrm>
          <a:prstGeom prst="rect">
            <a:avLst/>
          </a:prstGeom>
          <a:solidFill>
            <a:srgbClr val="FDEAEA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72200" y="3631057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172200" y="4069969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Negative-Margin Orders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72200" y="4271137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Had discount of 30% or more applied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72200" y="4809998"/>
            <a:ext cx="2560320" cy="2743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4800473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strategy needs urgent review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dashboard interactivity revealed regional and category-level patterns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069080" cy="1828800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114300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Regional Gaps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52728" y="1499616"/>
            <a:ext cx="306324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 region shows high order volume but significantly lower profit margins than US, suggesting pricing inefficiency or excessive discounting.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069080" cy="1828800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08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14300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Divergence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04688" y="1499616"/>
            <a:ext cx="306324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 sub-categories like Tables and Bookcases are net-negative contributors — invisible in static totals without cross-filtering.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11480" y="3017520"/>
            <a:ext cx="4069080" cy="1828800"/>
          </a:xfrm>
          <a:prstGeom prst="rect">
            <a:avLst/>
          </a:prstGeom>
          <a:solidFill>
            <a:srgbClr val="FDEAEA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204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52728" y="315468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Abuse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52728" y="3511296"/>
            <a:ext cx="306324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Specific customer segments receive discounts far exceeding the profitable threshold. The interactive scatter plot makes this cluster instantly visible.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4069080" cy="1828800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2044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04688" y="315468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Segment Potential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504688" y="3511296"/>
            <a:ext cx="306324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segment drives the most growth year-over-year. Targeted investment here yields the highest incremental return on marketing spend.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11480" y="4902962"/>
            <a:ext cx="8321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exploration turned data into actionable strategy — impossible with static reports.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outcomes and strategic actions from the interactive dashboard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8321040" cy="713232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71323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interactive Tableau dashboard, built on Python-preprocessed Global Superstore data, revealed critical business insights invisible in static reports — enabling faster, data-driven decisions at regional and category level.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901952"/>
            <a:ext cx="4069080" cy="1353312"/>
          </a:xfrm>
          <a:prstGeom prst="rect">
            <a:avLst/>
          </a:prstGeom>
          <a:solidFill>
            <a:srgbClr val="FDEAEA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49424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6152" y="199339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 Discount Strategy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16152" y="2304288"/>
            <a:ext cx="3127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 discounts at 20% for Furniture and Office Supplies. Implement approval workflows for orders exceeding the profitable discount threshold.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1901952"/>
            <a:ext cx="4069080" cy="1353312"/>
          </a:xfrm>
          <a:prstGeom prst="rect">
            <a:avLst/>
          </a:prstGeom>
          <a:solidFill>
            <a:srgbClr val="FFF1E8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49424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199339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by Category &amp; Region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68112" y="2304288"/>
            <a:ext cx="3127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 monthly profitability reviews at sub-category and regional level. Use dashboard drill-down to identify underperforming cells.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1480" y="3401568"/>
            <a:ext cx="4069080" cy="1353312"/>
          </a:xfrm>
          <a:prstGeom prst="rect">
            <a:avLst/>
          </a:prstGeom>
          <a:solidFill>
            <a:srgbClr val="E8F9F2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490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16152" y="3493008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 in Consumer Segment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216152" y="3803904"/>
            <a:ext cx="3127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Prioritize marketing budget in the Consumer segment. Consistent YoY growth across all regions makes it the highest ROI segment.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63440" y="3401568"/>
            <a:ext cx="4069080" cy="1353312"/>
          </a:xfrm>
          <a:prstGeom prst="rect">
            <a:avLst/>
          </a:prstGeom>
          <a:solidFill>
            <a:srgbClr val="EEF3FF"/>
          </a:solidFill>
          <a:ln w="6350">
            <a:solidFill>
              <a:srgbClr val="DDE6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490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3493008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Dashboard Coverage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68112" y="3803904"/>
            <a:ext cx="3127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logistics data to analyze shipping cost impact. Add forecasting worksheets using Tableau's built-in trend modeling capabilities.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286000" cy="2286000"/>
          </a:xfrm>
          <a:prstGeom prst="rect">
            <a:avLst/>
          </a:prstGeom>
          <a:solidFill>
            <a:srgbClr val="6BA8FF">
              <a:alpha val="45000"/>
            </a:srgbClr>
          </a:solidFill>
          <a:ln w="12700">
            <a:solidFill>
              <a:srgbClr val="6BA8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-365760"/>
            <a:ext cx="1828800" cy="1828800"/>
          </a:xfrm>
          <a:prstGeom prst="rect">
            <a:avLst/>
          </a:prstGeom>
          <a:solidFill>
            <a:srgbClr val="6BA8FF">
              <a:alpha val="40000"/>
            </a:srgbClr>
          </a:solidFill>
          <a:ln w="12700">
            <a:solidFill>
              <a:srgbClr val="6BA8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91440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474720" y="1719072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4F8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474720" y="2468880"/>
            <a:ext cx="5394960" cy="27432"/>
          </a:xfrm>
          <a:prstGeom prst="rect">
            <a:avLst/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0" y="2633472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Global Superstore dataset analyzed with Python &amp; Tableau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74720" y="2980944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Interactive dashboards reveal regional &amp; category insights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74720" y="3328416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Discount strategy and Furniture margins require urgent action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747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99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[Presenter Name]  ·  IEEE Conference  ·  2024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74720" y="4114800"/>
            <a:ext cx="1261872" cy="256032"/>
          </a:xfrm>
          <a:prstGeom prst="rect">
            <a:avLst/>
          </a:prstGeom>
          <a:solidFill>
            <a:srgbClr val="26C485"/>
          </a:solidFill>
          <a:ln w="12700">
            <a:solidFill>
              <a:srgbClr val="26C4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4114800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846320" y="4114800"/>
            <a:ext cx="1261872" cy="2560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4114800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Tableau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217920" y="4114800"/>
            <a:ext cx="1261872" cy="256032"/>
          </a:xfrm>
          <a:prstGeom prst="rect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4114800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Jupyter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6669</Words>
  <Application>WPS Presentation</Application>
  <PresentationFormat>On-screen Show (16:9)</PresentationFormat>
  <Paragraphs>311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Haji Qasim</cp:lastModifiedBy>
  <cp:revision>2</cp:revision>
  <dcterms:created xsi:type="dcterms:W3CDTF">2026-05-07T03:31:00Z</dcterms:created>
  <dcterms:modified xsi:type="dcterms:W3CDTF">2026-05-07T05:40:24Z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817EB60C21F844259E3CB24640536C00_12</vt:lpwstr>
  </property>
  <property fmtid="{D5CDD505-2E9C-101B-9397-08002B2CF9AE}" pid="3" name="KSOProductBuildVer">
    <vt:lpwstr>1033-12.1.0.25242</vt:lpwstr>
  </property>
</Properties>
</file>